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6e4a8faa304c8d" /><Relationship Type="http://schemas.openxmlformats.org/officeDocument/2006/relationships/extended-properties" Target="/docProps/app.xml" Id="R37811342f11e4a67" /><Relationship Type="http://schemas.openxmlformats.org/officeDocument/2006/relationships/officeDocument" Target="/ppt/presentation.xml" Id="R7756cc63f2b74b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77da4def6740ef"/>
  </p:sldMasterIdLst>
  <p:notesMasterIdLst>
    <p:notesMasterId xmlns:r="http://schemas.openxmlformats.org/officeDocument/2006/relationships" r:id="R68adf2e5be5249b1"/>
  </p:notesMasterIdLst>
  <p:sldIdLst>
    <p:sldId xmlns:r="http://schemas.openxmlformats.org/officeDocument/2006/relationships" id="256" r:id="R5ef6994d3dc94f8a"/>
    <p:sldId xmlns:r="http://schemas.openxmlformats.org/officeDocument/2006/relationships" id="257" r:id="R5c88effbc4ee4194"/>
    <p:sldId xmlns:r="http://schemas.openxmlformats.org/officeDocument/2006/relationships" id="258" r:id="R7732b55ac60d4456"/>
    <p:sldId xmlns:r="http://schemas.openxmlformats.org/officeDocument/2006/relationships" id="259" r:id="Rd84074c437054f03"/>
    <p:sldId xmlns:r="http://schemas.openxmlformats.org/officeDocument/2006/relationships" id="260" r:id="R6585bc36f32c4d61"/>
    <p:sldId xmlns:r="http://schemas.openxmlformats.org/officeDocument/2006/relationships" id="261" r:id="Rd908bdf1cf254ad9"/>
    <p:sldId xmlns:r="http://schemas.openxmlformats.org/officeDocument/2006/relationships" id="262" r:id="R5b70c38c435c4a97"/>
    <p:sldId xmlns:r="http://schemas.openxmlformats.org/officeDocument/2006/relationships" id="263" r:id="R4dde4350ebd34280"/>
    <p:sldId xmlns:r="http://schemas.openxmlformats.org/officeDocument/2006/relationships" id="264" r:id="Rbee009d2274749fa"/>
    <p:sldId xmlns:r="http://schemas.openxmlformats.org/officeDocument/2006/relationships" id="265" r:id="Racfbbd43fbaa46f4"/>
    <p:sldId xmlns:r="http://schemas.openxmlformats.org/officeDocument/2006/relationships" id="266" r:id="Re65c1bbae1754037"/>
    <p:sldId xmlns:r="http://schemas.openxmlformats.org/officeDocument/2006/relationships" id="267" r:id="Rc3ad3a4214fa417b"/>
    <p:sldId xmlns:r="http://schemas.openxmlformats.org/officeDocument/2006/relationships" id="268" r:id="R26bcac3e3c5d4c37"/>
  </p:sldIdLst>
  <p:sldSz cx="9144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522a0df832499c" /><Relationship Type="http://schemas.openxmlformats.org/officeDocument/2006/relationships/slideMaster" Target="/ppt/slideMasters/slideMaster1.xml" Id="R7a77da4def6740ef" /><Relationship Type="http://schemas.openxmlformats.org/officeDocument/2006/relationships/notesMaster" Target="/ppt/notesMasters/notesMaster1.xml" Id="R68adf2e5be5249b1" /><Relationship Type="http://schemas.openxmlformats.org/officeDocument/2006/relationships/presProps" Target="/ppt/presProps.xml" Id="R6ec5c35ef4e542b1" /><Relationship Type="http://schemas.openxmlformats.org/officeDocument/2006/relationships/viewProps" Target="/ppt/viewProps.xml" Id="Rcabd4dd5a2ec4d7a" /><Relationship Type="http://schemas.openxmlformats.org/officeDocument/2006/relationships/tableStyles" Target="/ppt/tableStyles.xml" Id="R102035a7f3774fa0" /><Relationship Type="http://schemas.openxmlformats.org/officeDocument/2006/relationships/slide" Target="/ppt/slides/slide1.xml" Id="R5ef6994d3dc94f8a" /><Relationship Type="http://schemas.openxmlformats.org/officeDocument/2006/relationships/slide" Target="/ppt/slides/slide2.xml" Id="R5c88effbc4ee4194" /><Relationship Type="http://schemas.openxmlformats.org/officeDocument/2006/relationships/slide" Target="/ppt/slides/slide3.xml" Id="R7732b55ac60d4456" /><Relationship Type="http://schemas.openxmlformats.org/officeDocument/2006/relationships/slide" Target="/ppt/slides/slide4.xml" Id="Rd84074c437054f03" /><Relationship Type="http://schemas.openxmlformats.org/officeDocument/2006/relationships/slide" Target="/ppt/slides/slide5.xml" Id="R6585bc36f32c4d61" /><Relationship Type="http://schemas.openxmlformats.org/officeDocument/2006/relationships/slide" Target="/ppt/slides/slide6.xml" Id="Rd908bdf1cf254ad9" /><Relationship Type="http://schemas.openxmlformats.org/officeDocument/2006/relationships/slide" Target="/ppt/slides/slide7.xml" Id="R5b70c38c435c4a97" /><Relationship Type="http://schemas.openxmlformats.org/officeDocument/2006/relationships/slide" Target="/ppt/slides/slide8.xml" Id="R4dde4350ebd34280" /><Relationship Type="http://schemas.openxmlformats.org/officeDocument/2006/relationships/slide" Target="/ppt/slides/slide9.xml" Id="Rbee009d2274749fa" /><Relationship Type="http://schemas.openxmlformats.org/officeDocument/2006/relationships/slide" Target="/ppt/slides/slide10.xml" Id="Racfbbd43fbaa46f4" /><Relationship Type="http://schemas.openxmlformats.org/officeDocument/2006/relationships/slide" Target="/ppt/slides/slide11.xml" Id="Re65c1bbae1754037" /><Relationship Type="http://schemas.openxmlformats.org/officeDocument/2006/relationships/slide" Target="/ppt/slides/slide12.xml" Id="Rc3ad3a4214fa417b" /><Relationship Type="http://schemas.openxmlformats.org/officeDocument/2006/relationships/slide" Target="/ppt/slides/slide13.xml" Id="R26bcac3e3c5d4c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52ee6f5b5740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89b17e8a544b25" /><Relationship Type="http://schemas.openxmlformats.org/officeDocument/2006/relationships/notesMaster" Target="/ppt/notesMasters/notesMaster1.xml" Id="Rdca7e56aa15746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29526d306f4416" /><Relationship Type="http://schemas.openxmlformats.org/officeDocument/2006/relationships/notesMaster" Target="/ppt/notesMasters/notesMaster1.xml" Id="Raa9f0b01097f4b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67fd28438c45a2" /><Relationship Type="http://schemas.openxmlformats.org/officeDocument/2006/relationships/notesMaster" Target="/ppt/notesMasters/notesMaster1.xml" Id="R8e496739c21645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8866f9c8714f92" /><Relationship Type="http://schemas.openxmlformats.org/officeDocument/2006/relationships/notesMaster" Target="/ppt/notesMasters/notesMaster1.xml" Id="Rffdef09b3bed41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6fc46f7b3f48f1" /><Relationship Type="http://schemas.openxmlformats.org/officeDocument/2006/relationships/notesMaster" Target="/ppt/notesMasters/notesMaster1.xml" Id="R2328e1d4d98342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2c18bfe8a44bee" /><Relationship Type="http://schemas.openxmlformats.org/officeDocument/2006/relationships/notesMaster" Target="/ppt/notesMasters/notesMaster1.xml" Id="Rcecf9f5dbef043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dea6da07d84bfa" /><Relationship Type="http://schemas.openxmlformats.org/officeDocument/2006/relationships/notesMaster" Target="/ppt/notesMasters/notesMaster1.xml" Id="Rc669071ebb1145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056a802f1c49bd" /><Relationship Type="http://schemas.openxmlformats.org/officeDocument/2006/relationships/notesMaster" Target="/ppt/notesMasters/notesMaster1.xml" Id="R287c2a4fa0fb48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2fe655b4634309" /><Relationship Type="http://schemas.openxmlformats.org/officeDocument/2006/relationships/notesMaster" Target="/ppt/notesMasters/notesMaster1.xml" Id="R8a8fa9741d534c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4b55b2722d4cca" /><Relationship Type="http://schemas.openxmlformats.org/officeDocument/2006/relationships/notesMaster" Target="/ppt/notesMasters/notesMaster1.xml" Id="R92acff8a70ca46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d483711c1e4683" /><Relationship Type="http://schemas.openxmlformats.org/officeDocument/2006/relationships/notesMaster" Target="/ppt/notesMasters/notesMaster1.xml" Id="Rb9d6b54e554f47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a4981bb41440dc" /><Relationship Type="http://schemas.openxmlformats.org/officeDocument/2006/relationships/notesMaster" Target="/ppt/notesMasters/notesMaster1.xml" Id="Rae11fb955bf94e6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45d81d225947e9" /><Relationship Type="http://schemas.openxmlformats.org/officeDocument/2006/relationships/notesMaster" Target="/ppt/notesMasters/notesMaster1.xml" Id="R3e838f9fe13548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8a17c29be4c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186f9de4804788" /><Relationship Type="http://schemas.openxmlformats.org/officeDocument/2006/relationships/slideLayout" Target="/ppt/slideLayouts/slideLayout1.xml" Id="R502f846bd2d342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2f846bd2d342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2e8288df946c3" /><Relationship Type="http://schemas.openxmlformats.org/officeDocument/2006/relationships/image" Target="/ppt/media/image.png" Id="R778b3779f73047ae" /><Relationship Type="http://schemas.openxmlformats.org/officeDocument/2006/relationships/notesSlide" Target="/ppt/notesSlides/notesSlide1.xml" Id="Rf716c27139264b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ceef799064be2" /><Relationship Type="http://schemas.openxmlformats.org/officeDocument/2006/relationships/image" Target="/ppt/media/image2.png" Id="Re956536fd62d4c59" /><Relationship Type="http://schemas.openxmlformats.org/officeDocument/2006/relationships/notesSlide" Target="/ppt/notesSlides/notesSlide2.xml" Id="Raae1a705336845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7b4b15c7a45a8" /><Relationship Type="http://schemas.openxmlformats.org/officeDocument/2006/relationships/image" Target="/ppt/media/image3.png" Id="R58a9867064b04afa" /><Relationship Type="http://schemas.openxmlformats.org/officeDocument/2006/relationships/notesSlide" Target="/ppt/notesSlides/notesSlide3.xml" Id="R233083082f014f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a781e8eda4d9c" /><Relationship Type="http://schemas.openxmlformats.org/officeDocument/2006/relationships/image" Target="/ppt/media/image4.png" Id="R76fde30459f54628" /><Relationship Type="http://schemas.openxmlformats.org/officeDocument/2006/relationships/notesSlide" Target="/ppt/notesSlides/notesSlide4.xml" Id="Re680cf70b2064c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b7be1cba645b6" /><Relationship Type="http://schemas.openxmlformats.org/officeDocument/2006/relationships/image" Target="/ppt/media/image5.png" Id="R8d5d1a857f25403d" /><Relationship Type="http://schemas.openxmlformats.org/officeDocument/2006/relationships/notesSlide" Target="/ppt/notesSlides/notesSlide5.xml" Id="Rc1202b81cf9e4c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46fb9df7942ba" /><Relationship Type="http://schemas.openxmlformats.org/officeDocument/2006/relationships/image" Target="/ppt/media/image6.png" Id="R0f84d348eacf4be7" /><Relationship Type="http://schemas.openxmlformats.org/officeDocument/2006/relationships/notesSlide" Target="/ppt/notesSlides/notesSlide6.xml" Id="R68459d1877d448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8bfcc71214b0c" /><Relationship Type="http://schemas.openxmlformats.org/officeDocument/2006/relationships/image" Target="/ppt/media/image7.png" Id="Rf611adf7aeac42e4" /><Relationship Type="http://schemas.openxmlformats.org/officeDocument/2006/relationships/notesSlide" Target="/ppt/notesSlides/notesSlide7.xml" Id="R4eca989c75e648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6a68b986f46f1" /><Relationship Type="http://schemas.openxmlformats.org/officeDocument/2006/relationships/image" Target="/ppt/media/image8.png" Id="Rd776ef00e1b14893" /><Relationship Type="http://schemas.openxmlformats.org/officeDocument/2006/relationships/notesSlide" Target="/ppt/notesSlides/notesSlide8.xml" Id="R16aafb171fe343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eb2f3c60c4d34" /><Relationship Type="http://schemas.openxmlformats.org/officeDocument/2006/relationships/image" Target="/ppt/media/image9.png" Id="R8342195b5a7b4d87" /><Relationship Type="http://schemas.openxmlformats.org/officeDocument/2006/relationships/notesSlide" Target="/ppt/notesSlides/notesSlide9.xml" Id="R485feb79d71e4f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38e682e47427b" /><Relationship Type="http://schemas.openxmlformats.org/officeDocument/2006/relationships/image" Target="/ppt/media/image10.png" Id="Reff72e99f12f4cf5" /><Relationship Type="http://schemas.openxmlformats.org/officeDocument/2006/relationships/notesSlide" Target="/ppt/notesSlides/notesSlide10.xml" Id="R713377867ee24c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7f652ec75459a" /><Relationship Type="http://schemas.openxmlformats.org/officeDocument/2006/relationships/image" Target="/ppt/media/image11.png" Id="Rb3220875e1e24893" /><Relationship Type="http://schemas.openxmlformats.org/officeDocument/2006/relationships/notesSlide" Target="/ppt/notesSlides/notesSlide11.xml" Id="R7f1b866aabdc4f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e29be67ed4cdf" /><Relationship Type="http://schemas.openxmlformats.org/officeDocument/2006/relationships/image" Target="/ppt/media/image12.png" Id="R97f063972aba4e7f" /><Relationship Type="http://schemas.openxmlformats.org/officeDocument/2006/relationships/notesSlide" Target="/ppt/notesSlides/notesSlide12.xml" Id="R3cfae858368941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6fd8356eb42ca" /><Relationship Type="http://schemas.openxmlformats.org/officeDocument/2006/relationships/image" Target="/ppt/media/image13.png" Id="Rf80227b0d6214301" /><Relationship Type="http://schemas.openxmlformats.org/officeDocument/2006/relationships/notesSlide" Target="/ppt/notesSlides/notesSlide13.xml" Id="R0c19a478d68c45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b3779f73047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91B3F-3A28-4F4B-A746-342EA1CE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8001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8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F3BD5-70DD-4DCE-B3AB-A148CEA1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746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三维场景红外成像仿真产品规划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626C6-2DF9-4A99-B5A8-D085F588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6781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国产化 ARM 板卡 + 开源 3D 引擎 + 行业解决方案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9823A-69DC-42E6-B611-43E08EC7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8A1EC-7BCB-45B3-AD4B-5BADD252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95825"/>
            <a:ext cx="552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方向判断：产品化平台为主，军工/低空/航天解决方案为抓手</a:t>
            </a:r>
          </a:p>
        </p:txBody>
      </p:sp>
    </p:spTree>
    <p:extLst>
      <p:ext uri="{BB962C8B-B14F-4D97-AF65-F5344CB8AC3E}">
        <p14:creationId xmlns:p14="http://schemas.microsoft.com/office/powerpoint/2010/main" val="1167687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6536fd62d4c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E67C1-0B03-4FA4-8F1A-8865B6CB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产品定位、市场方向与目标用户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32E48-DE3D-42C4-B82C-3420E444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997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技术基础、创新难点与集团协同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F924C-6B6D-4B25-9817-C10ADACF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012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实现路径、投入产出与 AI 化演进</a:t>
            </a:r>
          </a:p>
        </p:txBody>
      </p:sp>
    </p:spTree>
    <p:extLst>
      <p:ext uri="{BB962C8B-B14F-4D97-AF65-F5344CB8AC3E}">
        <p14:creationId xmlns:p14="http://schemas.microsoft.com/office/powerpoint/2010/main" val="12733038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9867064b04a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BA270-95DD-46F3-BD98-16AB2728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48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产品定位：平台产品 + 行业方案包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D63F2-916B-4C37-91D1-3CDB8B22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平台沉淀能力，方案承接场景和预算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81B78-DA99-4E19-AD0E-B1F8D99C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266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97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DADC5-9CE6-484D-A6DE-1C064E22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098B1-C0C5-4224-9B0F-67646E3C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平台产品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E2CAB-3374-47F0-A306-E25C3EC6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19240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红外仿真内核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GUI 配置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SDK/API 封装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国产 ARM 运行时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材料/目标/场景库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E0D29-365E-4860-BC18-F2C0DA09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09750"/>
            <a:ext cx="2266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B49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C8AA5-C44D-4187-80B4-C3C73579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0975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4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1EFE3F-D6B6-4523-A8CA-E48A5B89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859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行业方案包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02C9B-7D0A-47B3-8F60-3366D29C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24100"/>
            <a:ext cx="19240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军工半实物测试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低空无人机感知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商业航天载荷验证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安防应急演训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36A96-7122-49A1-A0DB-270AC358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9750"/>
            <a:ext cx="2266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8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FB90B-83A3-4009-A59F-E6B1B761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975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F979DD-064A-44B5-9304-A5245B81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长期方向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53176-B6C5-49D5-B1A6-151BF6BB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19240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红外 + 雷达 + 可见光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AFSIM/VR/UE5 联合仿真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AI 数据生成与评估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A5F036-95E5-4691-8F40-286F9487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53000"/>
            <a:ext cx="638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4B98"/>
          </a:solidFill>
          <a:ln xmlns:a="http://schemas.openxmlformats.org/drawingml/2006/main" w="9525">
            <a:solidFill>
              <a:srgbClr val="124B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7C7FDC-48E5-40AF-A76A-FD851D39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863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一句话定位：面向低空、航天、军工的国产化传感器仿真底座。</a:t>
            </a:r>
          </a:p>
        </p:txBody>
      </p:sp>
    </p:spTree>
    <p:extLst>
      <p:ext uri="{BB962C8B-B14F-4D97-AF65-F5344CB8AC3E}">
        <p14:creationId xmlns:p14="http://schemas.microsoft.com/office/powerpoint/2010/main" val="17946355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fde30459f546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CB9FE-937A-45F3-8E78-F8924EFB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48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产品概述：从红外仿真内核到可交付产品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51627-E4AD-4D6D-8A2B-96FE6F65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产品要能配置、能接入、能部署、能验收，而不是只停留在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7E3DD-0DEE-46BC-94E7-C77A2FE0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66875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97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E83BA-1022-4A08-BB43-1137BDCC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668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90329-124F-4C15-A4EE-EEAEFCE6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产品是什么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98387-0A35-4547-9E04-1FEBE0FB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2038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三维场景红外成像仿真平台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输入：场景、目标、材质、温度、大气、传感器参数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输出：多波段红外图像/序列、状态日志、测试报告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69FA6-0B43-4D46-9ED2-0C626CD5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66875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B49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A9AC5-0C7F-42D5-AB38-762CCC96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668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4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B08E6-B4DA-459F-B58D-AFE15359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743075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产品细化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E62D2-1332-45FB-B32E-842BC3AB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81225"/>
            <a:ext cx="2038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GUI：场景与参数配置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接口：SDK/API/协议封装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模型库：目标/材料/大气/温度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工具链：批量试验、日志、报告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适配：Windows/Linux/国产 ARM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9DF69-E71D-452B-BBE8-92731481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66875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8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B2717-AB39-4F19-90D5-D8CAADAA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668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2B8947-5D02-40DD-8F2C-18C84924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43075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扩展方向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3934B-4B45-4CB6-9E7E-2FEB2233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2038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UE5 高保真场景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AFSIM/VR 联合仿真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红外 + 雷达多模态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AI 合成数据与自动评测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半实物/硬件在环接口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0D104-17E3-4A8E-9CC8-99D9F143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0125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9E347A-9827-4A03-AF1B-04E136D6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72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建议边界：V1.0 先做红外仿真平台最小可交付闭环；UE5、雷达、AI 能力分阶段进入，不抢占首版交付节奏。</a:t>
            </a:r>
          </a:p>
        </p:txBody>
      </p:sp>
    </p:spTree>
    <p:extLst>
      <p:ext uri="{BB962C8B-B14F-4D97-AF65-F5344CB8AC3E}">
        <p14:creationId xmlns:p14="http://schemas.microsoft.com/office/powerpoint/2010/main" val="3105647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d1a857f2540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0FE16-189D-49D8-BC2E-5B226C6C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48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市场方向：军工先行，低空与航天扩展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96905-D189-4B9E-A6F9-FEC70998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核心痛点是实测成本、场景复现、国产化替代和算法数据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91FAC-46D4-45A3-9D97-D9022235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809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C43D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90ED0-236F-4C54-9BBD-70729C4E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3D3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C43D32"/>
                </a:solidFill>
                <a:latin typeface="微软雅黑"/>
                <a:ea typeface="微软雅黑"/>
                <a:cs typeface="微软雅黑"/>
              </a:rPr>
              <a:t>军工装备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1A0E6-03A1-406D-80ED-4B99D59E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581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军工研究所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总体单位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红外设备厂商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靶场/试验基地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C7448-99C5-4C7C-97BC-56E1A676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14500"/>
            <a:ext cx="1809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52079-28FD-46CC-BDCA-4627DB3E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09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976D1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976D1"/>
                </a:solidFill>
                <a:latin typeface="微软雅黑"/>
                <a:ea typeface="微软雅黑"/>
                <a:cs typeface="微软雅黑"/>
              </a:rPr>
              <a:t>低空经济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FD9BE-B719-4841-8B6F-EBD6AFE8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14550"/>
            <a:ext cx="1581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低空监管平台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无人机运营商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机场/园区/港口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反无人机集成商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B0A58-237C-43C5-9CA7-E503D5D4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1809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4CB49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D0EBA-756C-4495-9EAB-E66C947C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CB49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CB494"/>
                </a:solidFill>
                <a:latin typeface="微软雅黑"/>
                <a:ea typeface="微软雅黑"/>
                <a:cs typeface="微软雅黑"/>
              </a:rPr>
              <a:t>商业航天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2BBB3-7F93-42F1-B92B-A372DE8A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14550"/>
            <a:ext cx="1581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卫星总体单位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载荷研制单位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商业航天公司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地面仿真团队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10A05-30BD-4571-ABCC-D0E26143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14500"/>
            <a:ext cx="1666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981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11C16-0372-43AE-90C1-232F7EBE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09750"/>
            <a:ext cx="1476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812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D9812B"/>
                </a:solidFill>
                <a:latin typeface="微软雅黑"/>
                <a:ea typeface="微软雅黑"/>
                <a:cs typeface="微软雅黑"/>
              </a:rPr>
              <a:t>外延用户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C9123-6223-48B6-9864-ACB4DDD4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114550"/>
            <a:ext cx="14382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安防应急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高校科研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工业检测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内部测试部门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A911C-774A-45F6-8B10-4ED658D6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685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FF47A-5EB2-45A8-98EE-7B7352FC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0075"/>
            <a:ext cx="628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优先级建议：军工试点客户定义需求和验收标准；低空经济形成场景包；商业航天做载荷/星地仿真接口储备。</a:t>
            </a:r>
          </a:p>
        </p:txBody>
      </p:sp>
    </p:spTree>
    <p:extLst>
      <p:ext uri="{BB962C8B-B14F-4D97-AF65-F5344CB8AC3E}">
        <p14:creationId xmlns:p14="http://schemas.microsoft.com/office/powerpoint/2010/main" val="3795757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4d348eacf4b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02F01-870B-4053-A96C-94D5E53F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48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战略契合：低空、航天、军工、自主可控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79477-5A25-42E7-BF60-2624BD21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公司已有仿真资源可形成组合拳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B1767-0A76-42EB-8539-2F3FAA26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6D1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F520F-E47F-425D-A49B-0F369BE8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低空经济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D954F-7C35-499A-8F90-FA36C12A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09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494"/>
          </a:solidFill>
          <a:ln xmlns:a="http://schemas.openxmlformats.org/drawingml/2006/main" w="9525">
            <a:solidFill>
              <a:srgbClr val="4CB49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700BC-DAF0-4B6F-BC79-B6304601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859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商业航天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9BE87-9D73-4D1F-BFC8-844E8941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2"/>
          </a:solidFill>
          <a:ln xmlns:a="http://schemas.openxmlformats.org/drawingml/2006/main" w="9525">
            <a:solidFill>
              <a:srgbClr val="C43D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29B99-1064-4CC6-84B2-3AF825E7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859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军工装备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B60B9-8E47-4E98-878A-A86E88E7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12B"/>
          </a:solidFill>
          <a:ln xmlns:a="http://schemas.openxmlformats.org/drawingml/2006/main" w="9525">
            <a:solidFill>
              <a:srgbClr val="D981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D7645-5CC4-44D5-B983-BA7B5067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自主可控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FE535-8D17-42A7-AB21-86242954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7334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8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9CBA4-6D0D-48DA-B31E-222DB2D8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0037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集团资源协同方向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1E8CD-24C1-4FC6-A4DA-37148599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7662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AFSIM：任务/战术场景与联合仿真入口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28AF6-FA17-4C37-99A4-5B896370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481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VR：沉浸式训练、装备操作、复盘评估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19D35-F229-401D-9D8B-F3A39268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7662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虚幻5：下一代高保真场景与大规模渲染路线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A9252-25A9-49FE-ABE0-5B3C8F5E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481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雷达成像：与红外形成多模态传感器仿真矩阵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F5E34-954D-4695-809C-54F36AE0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4B98"/>
          </a:solidFill>
          <a:ln xmlns:a="http://schemas.openxmlformats.org/drawingml/2006/main" w="9525">
            <a:solidFill>
              <a:srgbClr val="124B9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B16C1C-36D7-440F-9018-7646C917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14925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方向：把红外仿真嵌入公司“任务仿真 + 视景 + 传感器”的平台体系。</a:t>
            </a:r>
          </a:p>
        </p:txBody>
      </p:sp>
    </p:spTree>
    <p:extLst>
      <p:ext uri="{BB962C8B-B14F-4D97-AF65-F5344CB8AC3E}">
        <p14:creationId xmlns:p14="http://schemas.microsoft.com/office/powerpoint/2010/main" val="5064369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1adf7aeac42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58C4C-8F5A-4C88-B6A5-4DB304D9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48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 技术基础：已有 HwaSimIR 工程积累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EB923-AB93-4FE7-A915-409526BC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壁垒来自红外物理、三维引擎、国产硬件、协议和验证体系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1425B-FB2C-4289-8109-7D0BAF1A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C0256-55A2-48C7-86D5-D169B488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976D1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976D1"/>
                </a:solidFill>
                <a:latin typeface="微软雅黑"/>
                <a:ea typeface="微软雅黑"/>
                <a:cs typeface="微软雅黑"/>
              </a:rPr>
              <a:t>工程底座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C00BB-E2E2-4C00-93DF-A75D522F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581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C++/Qt/Panda3D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OpenCV/Eigen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场景加载与图像处理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2CF25-C237-4C4C-B765-5DBCDCE2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1450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4CB49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23D48-FF24-4BE4-8B82-62AD882C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09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CB49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CB494"/>
                </a:solidFill>
                <a:latin typeface="微软雅黑"/>
                <a:ea typeface="微软雅黑"/>
                <a:cs typeface="微软雅黑"/>
              </a:rPr>
              <a:t>红外链路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65458-560F-4C4B-851B-088FC073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14550"/>
            <a:ext cx="1581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多波段仿真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温度/材质/大气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MODTRAN tau 受控链路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82522-1612-41CC-9410-58041B6C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981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974BE-1B05-40B1-8F6B-9F2E42CD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812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D9812B"/>
                </a:solidFill>
                <a:latin typeface="微软雅黑"/>
                <a:ea typeface="微软雅黑"/>
                <a:cs typeface="微软雅黑"/>
              </a:rPr>
              <a:t>目标状态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88123-D929-4963-B7EE-C2E1D0F5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14550"/>
            <a:ext cx="1581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热点/亮点分离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目标全协议键映射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日志可追溯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10B64-697B-4E93-AE2B-8245B6E9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14500"/>
            <a:ext cx="16668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C43D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F27A49-A9C8-4A21-B01A-EEEA9C7E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09750"/>
            <a:ext cx="1476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3D3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C43D32"/>
                </a:solidFill>
                <a:latin typeface="微软雅黑"/>
                <a:ea typeface="微软雅黑"/>
                <a:cs typeface="微软雅黑"/>
              </a:rPr>
              <a:t>验证体系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D7FC4-F248-4537-8E79-CC3453C7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114550"/>
            <a:ext cx="14382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构建脚本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严格检查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可视化 smoke 测试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E3E80-8F9E-4B6A-9C64-BE59697F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8D8EAC-7EF0-4F14-A710-CAC33192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产品化重点：GUI、接口封装、跨平台适配、模型库、校准数据、交付文档和验收指标。</a:t>
            </a:r>
          </a:p>
        </p:txBody>
      </p:sp>
    </p:spTree>
    <p:extLst>
      <p:ext uri="{BB962C8B-B14F-4D97-AF65-F5344CB8AC3E}">
        <p14:creationId xmlns:p14="http://schemas.microsoft.com/office/powerpoint/2010/main" val="16868594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6ef00e1b148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6101F-2D4F-4D69-BC42-E6C7F258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48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 创新点与难点：自主可控 + 物理可信 + 工程可交付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D483A-4920-4C47-9E1D-88256B5A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真正的壁垒不是画面效果，而是可解释、可校准、可集成、可复用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4A5E6-D5C8-41C1-A5AE-9D4FBDA8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66875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97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B1EA7-46E0-46CD-A716-45196850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668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086D9-3E55-4DA7-A57E-5FDBD026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创新点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7E21F-8C4F-46F8-87E5-3010C129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2038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国产 ARM 板卡适配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开源 3D 引擎红外链路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多波段/温度/大气/热点亮点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协议化目标与武器状态联动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可回归验证的工程流程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FBC85-49F0-4909-A5CC-42210EAE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66875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81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61B43-70AC-4437-8EC0-E54B46F4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668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3F0EC-FD05-4441-921D-257856FA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743075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C239B-188A-4EB7-A86F-86EE34B7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81225"/>
            <a:ext cx="2038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实时帧率与 ARM GPU 优化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红外物理精度和实测校准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材料/目标/大气参数库建设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场景规模与可解释性平衡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军工交付环境适配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EF0F5-472D-4C41-8588-3A19DD6A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66875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B49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BDD14-B56A-456B-88AF-6AC6DC08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668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4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4F8E9-02A1-430A-9F66-848B4111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43075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壁垒形成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93BE53-E57B-4AD8-80E1-7B6E0982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2038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模型库和数据资产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客户验收指标体系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软著/专利/技术秘密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跨平台运行时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AFSIM/VR/UE5/雷达接口生态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2BDDC-47FF-4095-9FC1-4A3FD763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0125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AC7B01-35B6-4DD4-B2BB-A3873E1C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72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建议投入重点：不要只追求“画面更像”，要同步建设物理模型、数据校准、接口标准和自动化验收。</a:t>
            </a:r>
          </a:p>
        </p:txBody>
      </p:sp>
    </p:spTree>
    <p:extLst>
      <p:ext uri="{BB962C8B-B14F-4D97-AF65-F5344CB8AC3E}">
        <p14:creationId xmlns:p14="http://schemas.microsoft.com/office/powerpoint/2010/main" val="15387989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2195b5a7b4d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A2D8C-59F0-4ACF-BA96-A6038646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48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 对标与差异化：国产化、低成本、可集成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C284A-C68C-42D5-96C5-D539403B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不复制国外大平台，优先做公司可控、客户可买的能力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C340C-3AC0-413A-B3DC-E5FFD4F1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15049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4C73B-7861-4B71-BE86-99607822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976D1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976D1"/>
                </a:solidFill>
                <a:latin typeface="微软雅黑"/>
                <a:ea typeface="微软雅黑"/>
                <a:cs typeface="微软雅黑"/>
              </a:rPr>
              <a:t>Presagis/CAE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F5A93-A3C1-4B74-8278-2F5CC10A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66925"/>
            <a:ext cx="1276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视景仿真平台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学习工具链和生态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差异：国产可控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601BB-158F-4F6F-8C13-956D2A20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666875"/>
            <a:ext cx="15049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4CB49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EAD4E-BA30-49A2-ACD8-6EEAB882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76212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CB49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CB494"/>
                </a:solidFill>
                <a:latin typeface="微软雅黑"/>
                <a:ea typeface="微软雅黑"/>
                <a:cs typeface="微软雅黑"/>
              </a:rPr>
              <a:t>ThermoAnalytics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A36F2-5E6E-4445-923D-8290368E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066925"/>
            <a:ext cx="1276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热/红外签名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学习物理建模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差异：本地交付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9843E-8B43-4B93-BC03-F590CB47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666875"/>
            <a:ext cx="15049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981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B2A09-9FDE-4F45-A8E3-AA2EC69C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76212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812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D9812B"/>
                </a:solidFill>
                <a:latin typeface="微软雅黑"/>
                <a:ea typeface="微软雅黑"/>
                <a:cs typeface="微软雅黑"/>
              </a:rPr>
              <a:t>OKTAL-SE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2BFA1-FA64-417F-9EBD-6D733015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66925"/>
            <a:ext cx="1276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EO/IR 传感器仿真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学习任务场景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差异：低空/航天场景包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B37C8E-8EBB-4DDA-8873-C78DC57D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66875"/>
            <a:ext cx="15049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C43D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AE55A-5E24-41A9-BB79-AF4F7567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76212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3D3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C43D32"/>
                </a:solidFill>
                <a:latin typeface="微软雅黑"/>
                <a:ea typeface="微软雅黑"/>
                <a:cs typeface="微软雅黑"/>
              </a:rPr>
              <a:t>MAK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AA446E-AC01-4204-AA3A-080BE4E1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066925"/>
            <a:ext cx="1276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DIS/HLA 联合仿真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学习系统集成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差异：接 AFSIM/VR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6DCD7-1DAC-4C1A-862B-B4FB722E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66875"/>
            <a:ext cx="13144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24B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EBAAD-FCC6-4C20-826B-69E1D389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62125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Ansys/AGI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BBAD90-F6FE-4597-A3D8-12C909E8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66925"/>
            <a:ext cx="1085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航天任务分析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学习载荷链路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差异：红外成像补位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3F7C01-58A3-48D7-85E5-ED663A99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29125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4B98"/>
          </a:solidFill>
          <a:ln xmlns:a="http://schemas.openxmlformats.org/drawingml/2006/main" w="9525">
            <a:solidFill>
              <a:srgbClr val="124B9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2EA9A2-BEDF-41E7-B812-8E7CED06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91050"/>
            <a:ext cx="600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差异化主线：国外软件替代不是唯一目标，更重要的是国产化部署、低成本定制和与公司仿真体系融合。</a:t>
            </a:r>
          </a:p>
        </p:txBody>
      </p:sp>
    </p:spTree>
    <p:extLst>
      <p:ext uri="{BB962C8B-B14F-4D97-AF65-F5344CB8AC3E}">
        <p14:creationId xmlns:p14="http://schemas.microsoft.com/office/powerpoint/2010/main" val="737747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72e99f12f4c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B0CE6-74D5-4E7A-9950-1ABE6ECA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48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08 实现路径：三阶段推进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F805E-B952-453C-B0E2-FE71DBA5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先落产品，再扩行业，最后平台化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CC07F-8293-4D31-AE3C-6C90B3D9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2095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97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55743-82A1-44C8-B480-175AD4DE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6D1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04B99-D9E9-4965-B280-5C418930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2882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阶段一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2026-2027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F9B9B-0DF7-40A9-8A46-6A3D9351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857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V1.0/V1.5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红外内核产品化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GUI + SDK/API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ARM 适配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军工试点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CE311-B478-4B0D-9AF0-FE654783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05000"/>
            <a:ext cx="2095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976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070FCF-0A4F-4787-931D-B9D56B0D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050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6D1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BAC01-D7DE-4B7C-A1AE-0ACADC97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02882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阶段二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57D55-89EC-4E0C-9873-7F9CBDDB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57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V2.0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低空与航天方案包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AFSIM/VR 接口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UE5 高保真分支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模型库商品化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43E36-10A9-4FB4-BDBE-89D41290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2095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97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EC68D-7F28-4F90-91D8-53BD3363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6D1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F1553-BBB2-49DF-99F0-AF49F4B7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2882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阶段三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2029-2030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5CEFC-A9FD-4D34-AC04-F3F05F85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57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V3.0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红外 + 雷达融合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AI 数据生成服务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多模态传感器仿真平台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规模化复制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B571C0-0F39-4E3A-9A4D-660E23F0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7205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C22B0-F956-4ED0-9FC7-13CB8CB4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095875"/>
            <a:ext cx="542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每阶段验收：产品版本、标杆客户、知识产权、可复用数据/模型资产。</a:t>
            </a:r>
          </a:p>
        </p:txBody>
      </p:sp>
    </p:spTree>
    <p:extLst>
      <p:ext uri="{BB962C8B-B14F-4D97-AF65-F5344CB8AC3E}">
        <p14:creationId xmlns:p14="http://schemas.microsoft.com/office/powerpoint/2010/main" val="209873440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20875e1e248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FA4B3-1EF8-43BC-8AAA-2CDB6C70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48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09 投入产出：小团队启动，用项目带动产品迭代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AFC73-11B4-45F1-AEB2-CE1D47B8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方向性测算，正式立项需财务、销售线索和客户价格校核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CFBF9-AA2E-45B5-8D7A-22731C65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2333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97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BC87C-3C92-4A37-9417-894FBE7A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7CF5D-3978-4825-81BF-48C90B11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2066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投入建议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CE404-3670-465A-A80B-2008E266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990725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人员：首年 5-6 人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三年 8-10 人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五年 10-12 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资产：ARM 板卡、红外相机、测试工位、数据/模型库、校准环境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6759E-D79E-417C-BFB1-2BA582F3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714500"/>
            <a:ext cx="2333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B49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8ED25-0822-4227-98F4-83F9A77E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7145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4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1E5EE-BA82-4537-88F8-F031962D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790700"/>
            <a:ext cx="2066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年产出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C1EEA-A37C-45DB-A8B6-B993586C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28850"/>
            <a:ext cx="1990725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第 1 年：内部节支 + 原型验证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第 2 年：试点销售 + 军工方案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第 3 年：低空/航天方案复制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目标：形成软著、专利、模型库和标杆案例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77986-AAE2-4FD6-B4A2-17820534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2333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8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C9F4F-05E9-4703-86E1-FFA309E9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D139C-74C6-4685-B036-DF0B0BCF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2066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年效益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94CF27-14F9-4B97-B167-EAE5F203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28850"/>
            <a:ext cx="1990725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产品授权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行业解决方案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模型库/维护服务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AI 数据生成服务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集团平台复用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第 4-5 年追求规模化收入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56F34-29E9-49C1-B151-FCA09E4E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4B98"/>
          </a:solidFill>
          <a:ln xmlns:a="http://schemas.openxmlformats.org/drawingml/2006/main" w="9525">
            <a:solidFill>
              <a:srgbClr val="124B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11199-D38E-4262-AD87-5D8D4A51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628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经营逻辑：先用军工/低空项目验证付费能力，再把 GUI、接口、模型库沉淀为可复制产品。</a:t>
            </a:r>
          </a:p>
        </p:txBody>
      </p:sp>
    </p:spTree>
    <p:extLst>
      <p:ext uri="{BB962C8B-B14F-4D97-AF65-F5344CB8AC3E}">
        <p14:creationId xmlns:p14="http://schemas.microsoft.com/office/powerpoint/2010/main" val="127764593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063972aba4e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010AA-39F7-45E8-A037-7B43DB53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48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AI 与下一步：把仿真平台升级为数据与评估平台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1C45A-A181-4D31-8378-97FDC890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不是口号，落点是场景生成、参数校准、数据合成和自动评测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DB671-4DE5-4999-AB5D-4A200BB7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809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0BFF6-72AF-4B6B-988D-CC7947CF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976D1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976D1"/>
                </a:solidFill>
                <a:latin typeface="微软雅黑"/>
                <a:ea typeface="微软雅黑"/>
                <a:cs typeface="微软雅黑"/>
              </a:rPr>
              <a:t>AI 场景生成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63330-0DF3-48C4-B4D9-A5AB63EE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66925"/>
            <a:ext cx="15811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根据任务描述生成低空/航天/安防场景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快速形成批量试验工况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D73F6-30F1-493A-93B6-E11AAE66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66875"/>
            <a:ext cx="1809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4CB49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C6A64-173D-4D39-986C-4DC97B8E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76212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CB49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CB494"/>
                </a:solidFill>
                <a:latin typeface="微软雅黑"/>
                <a:ea typeface="微软雅黑"/>
                <a:cs typeface="微软雅黑"/>
              </a:rPr>
              <a:t>参数反演校准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12FBB-E370-42B2-B5D5-10F53E32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66925"/>
            <a:ext cx="15811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用实测红外图像反推材质、温度、大气和传感器参数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提升可信度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51332-F0C7-4189-BB1E-0F8D7111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66875"/>
            <a:ext cx="1809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981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1EEE2-3048-4E57-BEC2-B01D2D7E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6212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812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D9812B"/>
                </a:solidFill>
                <a:latin typeface="微软雅黑"/>
                <a:ea typeface="微软雅黑"/>
                <a:cs typeface="微软雅黑"/>
              </a:rPr>
              <a:t>数据合成服务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C4035-09ED-4C13-9AF8-522CFC6F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66925"/>
            <a:ext cx="15811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生成红外目标识别、跟踪、融合感知训练数据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服务算法团队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2BD95-0ECF-4055-A62F-34FBC5B1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666875"/>
            <a:ext cx="16668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C43D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77D3B-C444-4233-9D22-55606AB7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62125"/>
            <a:ext cx="1476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3D3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C43D32"/>
                </a:solidFill>
                <a:latin typeface="微软雅黑"/>
                <a:ea typeface="微软雅黑"/>
                <a:cs typeface="微软雅黑"/>
              </a:rPr>
              <a:t>自动评测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B4BDF-6C71-4A8F-9668-9F749E1E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66925"/>
            <a:ext cx="14382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批量生成测试用例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日志诊断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自动报告和验收指标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168E0-C2B6-4591-8551-72EBC00B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7286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8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96CFA-A380-4617-989E-76BF05E2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近期建议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EC6B17-131E-46DB-AD09-415BAC08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57700"/>
            <a:ext cx="5572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1. 明确 V1.0 必做/不做清单；2. 锁定 2-3 家试点客户；3. 建立跨部门资源池；4. 启动模型库、校准数据和 AI 数据生成预研。</a:t>
            </a:r>
          </a:p>
        </p:txBody>
      </p:sp>
    </p:spTree>
    <p:extLst>
      <p:ext uri="{BB962C8B-B14F-4D97-AF65-F5344CB8AC3E}">
        <p14:creationId xmlns:p14="http://schemas.microsoft.com/office/powerpoint/2010/main" val="16987406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227b0d62143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B0D47-49DD-42EC-B504-12AD8011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24125"/>
            <a:ext cx="609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8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66C2A-B756-4CEE-900E-E4E17768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241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建议立项口径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15B8A-408A-4BAE-A3BD-E95B366D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43250"/>
            <a:ext cx="552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国产化三维红外成像仿真产品平台</a:t>
            </a:r>
          </a:p>
          <a:p xmlns:a="http://schemas.openxmlformats.org/drawingml/2006/main">
            <a:pPr algn="ctr">
              <a:defRPr sz="112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以军工、低空经济、商业航天解决方案包为首批商业化方向</a:t>
            </a:r>
          </a:p>
        </p:txBody>
      </p:sp>
    </p:spTree>
    <p:extLst>
      <p:ext uri="{BB962C8B-B14F-4D97-AF65-F5344CB8AC3E}">
        <p14:creationId xmlns:p14="http://schemas.microsoft.com/office/powerpoint/2010/main" val="16607886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2026-06-07T06:59:55.7380000Z</dcterms:created>
  <dcterms:modified xsi:type="dcterms:W3CDTF">2026-06-07T06:59:55.7380000Z</dcterms:modified>
</coreProperties>
</file>
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1da891301a4818" /><Relationship Type="http://schemas.openxmlformats.org/officeDocument/2006/relationships/extended-properties" Target="/docProps/app.xml" Id="Rbe66274c1c144231" /><Relationship Type="http://schemas.openxmlformats.org/officeDocument/2006/relationships/officeDocument" Target="/ppt/presentation.xml" Id="R01ca60fc931d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6c81c262c34082"/>
  </p:sldMasterIdLst>
  <p:notesMasterIdLst>
    <p:notesMasterId xmlns:r="http://schemas.openxmlformats.org/officeDocument/2006/relationships" r:id="Rfc9c0f12c0ac4a15"/>
  </p:notesMasterIdLst>
  <p:sldIdLst>
    <p:sldId xmlns:r="http://schemas.openxmlformats.org/officeDocument/2006/relationships" id="256" r:id="R08767b72506c4e3d"/>
    <p:sldId xmlns:r="http://schemas.openxmlformats.org/officeDocument/2006/relationships" id="257" r:id="Rccb9115e31564d5b"/>
    <p:sldId xmlns:r="http://schemas.openxmlformats.org/officeDocument/2006/relationships" id="258" r:id="Re0a40df7df564854"/>
    <p:sldId xmlns:r="http://schemas.openxmlformats.org/officeDocument/2006/relationships" id="259" r:id="R85bedcfa28cb4286"/>
    <p:sldId xmlns:r="http://schemas.openxmlformats.org/officeDocument/2006/relationships" id="260" r:id="Rb7cb098932734875"/>
    <p:sldId xmlns:r="http://schemas.openxmlformats.org/officeDocument/2006/relationships" id="261" r:id="Reb426c18ae5a4261"/>
    <p:sldId xmlns:r="http://schemas.openxmlformats.org/officeDocument/2006/relationships" id="262" r:id="R968856ecea164d38"/>
    <p:sldId xmlns:r="http://schemas.openxmlformats.org/officeDocument/2006/relationships" id="263" r:id="R5d76c29b871341ad"/>
    <p:sldId xmlns:r="http://schemas.openxmlformats.org/officeDocument/2006/relationships" id="264" r:id="R257ecbb8002b463a"/>
    <p:sldId xmlns:r="http://schemas.openxmlformats.org/officeDocument/2006/relationships" id="265" r:id="R78091b3b918d4d30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f68fe59458441f" /><Relationship Type="http://schemas.openxmlformats.org/officeDocument/2006/relationships/slideMaster" Target="/ppt/slideMasters/slideMaster1.xml" Id="R526c81c262c34082" /><Relationship Type="http://schemas.openxmlformats.org/officeDocument/2006/relationships/notesMaster" Target="/ppt/notesMasters/notesMaster1.xml" Id="Rfc9c0f12c0ac4a15" /><Relationship Type="http://schemas.openxmlformats.org/officeDocument/2006/relationships/presProps" Target="/ppt/presProps.xml" Id="R9476b49f92744698" /><Relationship Type="http://schemas.openxmlformats.org/officeDocument/2006/relationships/viewProps" Target="/ppt/viewProps.xml" Id="Ra900229a5805442b" /><Relationship Type="http://schemas.openxmlformats.org/officeDocument/2006/relationships/tableStyles" Target="/ppt/tableStyles.xml" Id="R75ac67000f534ef2" /><Relationship Type="http://schemas.openxmlformats.org/officeDocument/2006/relationships/slide" Target="/ppt/slides/slide1.xml" Id="R08767b72506c4e3d" /><Relationship Type="http://schemas.openxmlformats.org/officeDocument/2006/relationships/slide" Target="/ppt/slides/slide2.xml" Id="Rccb9115e31564d5b" /><Relationship Type="http://schemas.openxmlformats.org/officeDocument/2006/relationships/slide" Target="/ppt/slides/slide3.xml" Id="Re0a40df7df564854" /><Relationship Type="http://schemas.openxmlformats.org/officeDocument/2006/relationships/slide" Target="/ppt/slides/slide4.xml" Id="R85bedcfa28cb4286" /><Relationship Type="http://schemas.openxmlformats.org/officeDocument/2006/relationships/slide" Target="/ppt/slides/slide5.xml" Id="Rb7cb098932734875" /><Relationship Type="http://schemas.openxmlformats.org/officeDocument/2006/relationships/slide" Target="/ppt/slides/slide6.xml" Id="Reb426c18ae5a4261" /><Relationship Type="http://schemas.openxmlformats.org/officeDocument/2006/relationships/slide" Target="/ppt/slides/slide7.xml" Id="R968856ecea164d38" /><Relationship Type="http://schemas.openxmlformats.org/officeDocument/2006/relationships/slide" Target="/ppt/slides/slide8.xml" Id="R5d76c29b871341ad" /><Relationship Type="http://schemas.openxmlformats.org/officeDocument/2006/relationships/slide" Target="/ppt/slides/slide9.xml" Id="R257ecbb8002b463a" /><Relationship Type="http://schemas.openxmlformats.org/officeDocument/2006/relationships/slide" Target="/ppt/slides/slide10.xml" Id="R78091b3b918d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edd98a93e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990f209174ea6" /><Relationship Type="http://schemas.openxmlformats.org/officeDocument/2006/relationships/notesMaster" Target="/ppt/notesMasters/notesMaster1.xml" Id="R2c027a0a6b3d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20cf91d6f4e01" /><Relationship Type="http://schemas.openxmlformats.org/officeDocument/2006/relationships/notesMaster" Target="/ppt/notesMasters/notesMaster1.xml" Id="R3f3e27425ba24b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81f465377a4775" /><Relationship Type="http://schemas.openxmlformats.org/officeDocument/2006/relationships/notesMaster" Target="/ppt/notesMasters/notesMaster1.xml" Id="R2d517a2a539d47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2bee9d79454614" /><Relationship Type="http://schemas.openxmlformats.org/officeDocument/2006/relationships/notesMaster" Target="/ppt/notesMasters/notesMaster1.xml" Id="Rcaee90fb009142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e6cfd455f144cf" /><Relationship Type="http://schemas.openxmlformats.org/officeDocument/2006/relationships/notesMaster" Target="/ppt/notesMasters/notesMaster1.xml" Id="R1c31e2a8565b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916128e32c4fa1" /><Relationship Type="http://schemas.openxmlformats.org/officeDocument/2006/relationships/notesMaster" Target="/ppt/notesMasters/notesMaster1.xml" Id="Rb005e804bb894f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a0c9bfd69e4f40" /><Relationship Type="http://schemas.openxmlformats.org/officeDocument/2006/relationships/notesMaster" Target="/ppt/notesMasters/notesMaster1.xml" Id="Ree9a1ac94b674d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17a60d92b44cbb" /><Relationship Type="http://schemas.openxmlformats.org/officeDocument/2006/relationships/notesMaster" Target="/ppt/notesMasters/notesMaster1.xml" Id="R45744c65b9e54e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a275fa381a4771" /><Relationship Type="http://schemas.openxmlformats.org/officeDocument/2006/relationships/notesMaster" Target="/ppt/notesMasters/notesMaster1.xml" Id="R3c799b8e0d474a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72b4b6fbdf4992" /><Relationship Type="http://schemas.openxmlformats.org/officeDocument/2006/relationships/notesMaster" Target="/ppt/notesMasters/notesMaster1.xml" Id="R1359a5f3878d4e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498a775c740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a743593904063" /><Relationship Type="http://schemas.openxmlformats.org/officeDocument/2006/relationships/slideLayout" Target="/ppt/slideLayouts/slideLayout1.xml" Id="Rc36926df5bac43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926df5bac43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4d8eda8be4fce" /><Relationship Type="http://schemas.openxmlformats.org/officeDocument/2006/relationships/image" Target="/ppt/media/image.png" Id="Ra10d944951204c2a" /><Relationship Type="http://schemas.openxmlformats.org/officeDocument/2006/relationships/notesSlide" Target="/ppt/notesSlides/notesSlide1.xml" Id="Rd09413c86a094b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46cc80144dd5" /><Relationship Type="http://schemas.openxmlformats.org/officeDocument/2006/relationships/image" Target="/ppt/media/image2.png" Id="R413a55d93379417b" /><Relationship Type="http://schemas.openxmlformats.org/officeDocument/2006/relationships/notesSlide" Target="/ppt/notesSlides/notesSlide2.xml" Id="R1840eb0a3290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a683f94f74f01" /><Relationship Type="http://schemas.openxmlformats.org/officeDocument/2006/relationships/image" Target="/ppt/media/image3.png" Id="R7af8a5f90180447d" /><Relationship Type="http://schemas.openxmlformats.org/officeDocument/2006/relationships/notesSlide" Target="/ppt/notesSlides/notesSlide3.xml" Id="R192751ccebc047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678d6d8de425c" /><Relationship Type="http://schemas.openxmlformats.org/officeDocument/2006/relationships/image" Target="/ppt/media/image4.png" Id="R677f387a35304dda" /><Relationship Type="http://schemas.openxmlformats.org/officeDocument/2006/relationships/notesSlide" Target="/ppt/notesSlides/notesSlide4.xml" Id="Ra75ff764a18348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00bcca73e493c" /><Relationship Type="http://schemas.openxmlformats.org/officeDocument/2006/relationships/image" Target="/ppt/media/image5.png" Id="Rccb02b40d7f94761" /><Relationship Type="http://schemas.openxmlformats.org/officeDocument/2006/relationships/notesSlide" Target="/ppt/notesSlides/notesSlide5.xml" Id="Reb27f5b321da45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5f3047628433e" /><Relationship Type="http://schemas.openxmlformats.org/officeDocument/2006/relationships/image" Target="/ppt/media/image6.png" Id="Rde7b72b5b00b4571" /><Relationship Type="http://schemas.openxmlformats.org/officeDocument/2006/relationships/notesSlide" Target="/ppt/notesSlides/notesSlide6.xml" Id="R2ca780d2132c46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75fe3acd74bf1" /><Relationship Type="http://schemas.openxmlformats.org/officeDocument/2006/relationships/image" Target="/ppt/media/image7.png" Id="R92782f705daf4e39" /><Relationship Type="http://schemas.openxmlformats.org/officeDocument/2006/relationships/notesSlide" Target="/ppt/notesSlides/notesSlide7.xml" Id="Ra80680e3a6124b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9041183fd4066" /><Relationship Type="http://schemas.openxmlformats.org/officeDocument/2006/relationships/image" Target="/ppt/media/image8.png" Id="R9f2725cba1ba4802" /><Relationship Type="http://schemas.openxmlformats.org/officeDocument/2006/relationships/notesSlide" Target="/ppt/notesSlides/notesSlide8.xml" Id="R47e2626ab14c4d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aea736d3147a1" /><Relationship Type="http://schemas.openxmlformats.org/officeDocument/2006/relationships/image" Target="/ppt/media/image9.png" Id="Rf7683e7316274804" /><Relationship Type="http://schemas.openxmlformats.org/officeDocument/2006/relationships/notesSlide" Target="/ppt/notesSlides/notesSlide9.xml" Id="Rb65d91fc3c5841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e34af3b564892" /><Relationship Type="http://schemas.openxmlformats.org/officeDocument/2006/relationships/image" Target="/ppt/media/image10.png" Id="R12be6c7fa1f4466c" /><Relationship Type="http://schemas.openxmlformats.org/officeDocument/2006/relationships/notesSlide" Target="/ppt/notesSlides/notesSlide10.xml" Id="Rc533340d689546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d944951204c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4F023-3128-4415-8804-87FFBFED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800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6B2EE-E9CE-46B3-B777-CFF2BFE3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746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三维场景红外成像仿真产品规划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10A62-1967-489B-8CEB-68667A1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78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国产化 ARM 板卡 + 开源 3D 引擎 + 行业解决方案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C2A9E-87F5-48A9-987C-77D6EC3F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6598C-ADB8-4115-8239-1A32B5E9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方向判断：产品化平台为主，军工/低空/航天解决方案为抓手</a:t>
            </a:r>
          </a:p>
        </p:txBody>
      </p:sp>
    </p:spTree>
    <p:extLst>
      <p:ext uri="{BB962C8B-B14F-4D97-AF65-F5344CB8AC3E}">
        <p14:creationId xmlns:p14="http://schemas.microsoft.com/office/powerpoint/2010/main" val="1294074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a55d9337941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B8E0F-8CA7-45D9-AB95-7E9F33B6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产品定位与市场方向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D6262-3EF0-4D6F-8CAA-B4126F30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99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技术基础与集团协同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EED9-1F50-4534-B844-48CD9721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实现路径与投入产出</a:t>
            </a:r>
          </a:p>
        </p:txBody>
      </p:sp>
    </p:spTree>
    <p:extLst>
      <p:ext uri="{BB962C8B-B14F-4D97-AF65-F5344CB8AC3E}">
        <p14:creationId xmlns:p14="http://schemas.microsoft.com/office/powerpoint/2010/main" val="11427166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8a5f9018044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84F0-0F56-4EED-8751-90D9655B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产品定位：平台产品 + 行业方案包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918F5-87C1-4948-9CC2-079D1645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平台沉淀能力，方案承接场景和预算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E773C-F6B1-48CE-9668-29389FF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5477E-D45D-42E8-B88C-3783939B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98BC0-ADD7-4C31-87CA-865F5FE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EA7EC-06A4-49F3-882B-F037F80D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924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红外仿真内核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GUI 配置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SDK/API 封装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 ARM 运行时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材料/目标/场景库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C3E85-D57C-48E1-AF56-AD5BAA84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B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A614D-21CD-4183-8E74-9408B50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3CA19-7689-45F8-8109-973A2982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行业方案包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4BC6-EA4A-4A08-9605-84D7C95D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24100"/>
            <a:ext cx="1924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军工半实物测试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低空无人机感知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商业航天载荷验证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安防应急演训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AF8AD-7EEE-40CA-AD31-6E91B8E7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8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D9E6B-6505-46D3-BF85-370D075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D053B-C95E-4237-AF7B-6A590EA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长期方向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096E9-E3CF-4BDA-89BD-B3A15AB9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1924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 + 雷达 + 可见光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AFSIM/VR/UE5 联合仿真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AI 数据生成与评估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00608-E309-44D5-AD8E-64FCD1B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09CB5-85A6-4EA9-B45C-B5E16426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一句话定位：面向低空、航天、军工的国产化传感器仿真底座。</a:t>
            </a:r>
          </a:p>
        </p:txBody>
      </p:sp>
    </p:spTree>
    <p:extLst>
      <p:ext uri="{BB962C8B-B14F-4D97-AF65-F5344CB8AC3E}">
        <p14:creationId xmlns:p14="http://schemas.microsoft.com/office/powerpoint/2010/main" val="1541053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f387a35304d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A1AAD-87BF-4C58-AD13-3BB04BC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市场方向：军工先行，低空与航天扩展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DC92C-550F-4E7B-A246-99FB2E8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核心痛点是实测成本、场景复现、国产化替代和算法数据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E0FA-323D-47EC-A037-0ADF6020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6C073-4EED-4D06-BCB2-9627ACF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军工装备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0778C-BCA3-4F68-85B1-C316FA19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军工研究所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总体单位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红外设备厂商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靶场/试验基地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0E7E2-329A-4823-8F24-186B45AC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A1911-FAFB-4A9B-9996-B341BC1A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低空经济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4E65A-4C02-430F-B2B2-35F97520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1455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低空监管平台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无人机运营商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机场/园区/港口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反无人机集成商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6A003-6173-4059-9327-EB30324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8D0E1-DAB4-4E08-9E93-05337FF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商业航天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20EF4-47AC-44FE-9606-D30D9C71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卫星总体单位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载荷研制单位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商业航天公司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地面仿真团队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6BC62-CCF8-4DE3-B94E-12381816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166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9244F-7B44-4242-9E91-3A00B3FC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外延用户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BBB01-0879-4DA3-A574-20B83AE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14550"/>
            <a:ext cx="14382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安防应急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高校科研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工业检测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内部测试部门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60C58-DED4-4F63-A703-0A37D89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C354F-F06E-44EA-A3B4-9317919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0075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优先级建议：军工试点客户定义需求和验收标准；低空经济形成场景包；商业航天做载荷/星地仿真接口储备。</a:t>
            </a:r>
          </a:p>
        </p:txBody>
      </p:sp>
    </p:spTree>
    <p:extLst>
      <p:ext uri="{BB962C8B-B14F-4D97-AF65-F5344CB8AC3E}">
        <p14:creationId xmlns:p14="http://schemas.microsoft.com/office/powerpoint/2010/main" val="19815205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02b40d7f947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9B62D-715D-4F5C-B85D-101295A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战略契合：低空、航天、军工、自主可控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B47CE-3D36-43C3-930B-E546C92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公司已有仿真资源可形成组合拳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FA47A-2F25-4103-BA3C-4275505B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37466-8150-43E0-A751-B1A57AC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低空经济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EFF04-BBA0-489C-8EDF-AE860CD5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52105-A81A-4039-AB2F-A63CE503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商业航天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74FC4-991E-4A16-A21D-6C9D70C3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2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FF5AC-7863-4111-A5A4-6D50B9E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军工装备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AAE66-2A4A-4BC8-9FD7-40DABD78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815C4-EDA0-4D22-B273-F801918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自主可控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636BE-F768-4CD7-997A-4D5E475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7334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5A81B-845E-4888-9CF9-3B8A2B2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集团资源协同方向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D894E-0865-4945-99D1-A8E7910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AFSIM：任务/战术场景与联合仿真入口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0619D-04E8-4861-9350-36A8248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481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VR：沉浸式训练、装备操作、复盘评估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A4FE7-5D9F-4266-8CDA-B145946B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虚幻5：下一代高保真场景与大规模渲染路线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E5353-DD3C-4074-A1A2-DA7A403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481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雷达成像：与红外形成多模态传感器仿真矩阵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E560D-095A-4947-B188-D45E5EB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1AAD0-F3B0-43D3-9699-A917F248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14925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方向：把红外仿真嵌入公司“任务仿真 + 视景 + 传感器”的平台体系。</a:t>
            </a:r>
          </a:p>
        </p:txBody>
      </p:sp>
    </p:spTree>
    <p:extLst>
      <p:ext uri="{BB962C8B-B14F-4D97-AF65-F5344CB8AC3E}">
        <p14:creationId xmlns:p14="http://schemas.microsoft.com/office/powerpoint/2010/main" val="14154163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b72b5b00b45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35A4E-BD30-4BA8-8CB0-8893062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技术基础：已有 HwaSimIR 工程积累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D7F7B-4E06-4F79-A540-D1AC5903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壁垒来自红外物理、三维引擎、国产硬件、协议和验证体系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19A68-3CA7-4F33-9349-B726D8C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804ED-746F-40FF-9D07-B9DA70E5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工程底座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2B9ED-E6FE-4C4A-BBAF-C48B534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581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C++/Qt/Panda3D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OpenCV/Eigen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场景加载与图像处理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3427A-8045-4981-A740-8CC4BD4A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C72B8-A662-48A7-B047-B1B377EA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红外链路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9B501-63FF-4035-8BE9-ED57AD7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14550"/>
            <a:ext cx="1581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多波段仿真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温度/材质/大气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MODTRAN tau 受控链路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2BBB6-75FD-4EF1-B95A-79D406F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4D609-D56C-4C39-8F9E-3A24B13B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目标状态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1CA68-A128-4030-A1CE-83931B0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1581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热点/亮点分离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目标全协议键映射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日志可追溯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0B2A6-088D-4D50-96F6-CA4F2E9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1666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ABE42-EC35-48C3-A51A-682E788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验证体系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4D18E-98C0-4270-BAC2-DADBA79A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14550"/>
            <a:ext cx="14382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构建脚本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严格检查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可视化 smoke 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BE3F2-97EA-460D-A64D-87AF051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5E08A-75A1-4E4B-9458-87D98BEC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产品化重点：GUI、接口封装、跨平台适配、模型库、校准数据、交付文档和验收指标。</a:t>
            </a:r>
          </a:p>
        </p:txBody>
      </p:sp>
    </p:spTree>
    <p:extLst>
      <p:ext uri="{BB962C8B-B14F-4D97-AF65-F5344CB8AC3E}">
        <p14:creationId xmlns:p14="http://schemas.microsoft.com/office/powerpoint/2010/main" val="17561104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82f705daf4e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8FC9B-891F-4B5A-A648-CC38176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对标与差异化：国产化、低成本、可集成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2376E-F939-41E9-9D2A-567428B2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不复制国外大平台，优先做公司可控、客户可买的能力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BBC13-3746-4D48-BD0A-A9697EF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67648-C87A-4AC7-96B3-0C4DFB9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976D1"/>
                </a:solidFill>
                <a:latin typeface="微软雅黑"/>
                <a:ea typeface="微软雅黑"/>
                <a:cs typeface="微软雅黑"/>
              </a:rPr>
              <a:t>Presagis/CAE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8CE69-709E-4FB4-B6AC-76DFF1BE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视景仿真平台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学习工具链和生态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差异：国产可控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5B319-F5C0-446F-99EE-C7A7C337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4CB4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0E2EC-FDE8-4AFB-970B-971E0EF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CB494"/>
                </a:solidFill>
                <a:latin typeface="微软雅黑"/>
                <a:ea typeface="微软雅黑"/>
                <a:cs typeface="微软雅黑"/>
              </a:rPr>
              <a:t>ThermoAnalytics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A12BA-11C6-427B-989D-A44BE43A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热/红外签名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学习物理建模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差异：本地交付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EF8B6-B08B-42E7-8C16-26E3DC52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98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F4A3A-3A61-4861-AAE0-A0D741FB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D9812B"/>
                </a:solidFill>
                <a:latin typeface="微软雅黑"/>
                <a:ea typeface="微软雅黑"/>
                <a:cs typeface="微软雅黑"/>
              </a:rPr>
              <a:t>OKTAL-SE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C0F9A-7AD1-48AC-8EC2-FF9FEB9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EO/IR 传感器仿真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学习任务场景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差异：低空/航天场景包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6DEED-798C-4BE3-8B34-B461E06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66875"/>
            <a:ext cx="1504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18CA3-8704-4091-A8A1-7830C1F5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62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43D32"/>
                </a:solidFill>
                <a:latin typeface="微软雅黑"/>
                <a:ea typeface="微软雅黑"/>
                <a:cs typeface="微软雅黑"/>
              </a:rPr>
              <a:t>MAK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8BE60-C20F-496B-99F2-7A687F7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66925"/>
            <a:ext cx="1276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DIS/HLA 联合仿真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学习系统集成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差异：接 AFSIM/VR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FA96E-C34A-4E00-A086-617DD3E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66875"/>
            <a:ext cx="13144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2C95F-83D7-42B5-8F5F-98C85E6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6212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Ansys/AGI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ECA89-AB13-40D4-AC55-EC22D62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66925"/>
            <a:ext cx="1085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航天任务分析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学习载荷链路</a:t>
            </a:r>
          </a:p>
          <a:p xmlns:a="http://schemas.openxmlformats.org/drawingml/2006/main">
            <a:pPr algn="ctr">
              <a:def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差异：红外成像补位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FBD7C-4A2E-48F0-A569-1C783CE3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29125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DCCF7-3CC9-47ED-87C0-07FB710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9105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差异化主线：国外软件替代不是唯一目标，更重要的是国产化部署、低成本定制和与公司仿真体系融合。</a:t>
            </a:r>
          </a:p>
        </p:txBody>
      </p:sp>
    </p:spTree>
    <p:extLst>
      <p:ext uri="{BB962C8B-B14F-4D97-AF65-F5344CB8AC3E}">
        <p14:creationId xmlns:p14="http://schemas.microsoft.com/office/powerpoint/2010/main" val="16259765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725cba1ba48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728AE-0CD9-4417-B92E-8D4318A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实现路径：三阶段推进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1D1FD-89DC-4308-B85F-77819D0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先落产品，再扩行业，最后平台化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23469-F138-4D5C-A52C-5E2F2901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095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4C367-4932-404E-90E5-DC30BB77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BD728-3691-464D-BE48-09D2485A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288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阶段一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2026-2027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9AF29-A86E-4B23-9CFB-BD8EB6B2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V1.0/V1.5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红外内核产品化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GUI + SDK/API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ARM 适配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军工试点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6096E-F25B-48BB-A81D-3AC3C0A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05000"/>
            <a:ext cx="2095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B346E-87A4-4AFD-91AC-4E05083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05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B6F1B-66A4-4D38-B7D3-3FBEC74D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288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阶段二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141D6-1D4B-464B-AE56-410325B9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V2.0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低空与航天方案包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AFSIM/VR 接口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UE5 高保真分支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模型库商品化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D86E2-E8C5-4387-BE17-864BF936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095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58221-DA2C-410A-9FC3-AB16F1A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8DC3B-15B2-47DD-99A1-D4701D14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阶段三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2029-2030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9AD82-04D3-4849-BAFC-93ACA07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V3.0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 + 雷达融合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AI 数据生成服务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多模态传感器仿真平台</a:t>
            </a:r>
          </a:p>
          <a:p xmlns:a="http://schemas.openxmlformats.org/drawingml/2006/main">
            <a:pPr algn="ctr">
              <a:def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规模化复制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D1670-B890-4847-A040-D32650DE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497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915DD-7347-4ED6-820B-E05FA3B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542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每阶段验收：产品版本、标杆客户、知识产权、可复用数据/模型资产。</a:t>
            </a:r>
          </a:p>
        </p:txBody>
      </p:sp>
    </p:spTree>
    <p:extLst>
      <p:ext uri="{BB962C8B-B14F-4D97-AF65-F5344CB8AC3E}">
        <p14:creationId xmlns:p14="http://schemas.microsoft.com/office/powerpoint/2010/main" val="727844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3e73162748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853CC-5ABB-4A3C-A8CA-7C78A2A8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投入产出与 AI 化：小团队启动，项目牵引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4A8FD-F92C-43A4-97CC-D662191F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方向性测算，正式立项需财务和销售线索校核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89667-534D-4848-9D3B-DEB16408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238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7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E6347-F538-478D-BFBB-7D62E960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5546A-3F99-496A-8000-6E7E3A5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1971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投入建议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BECAC-9D39-49EA-B99B-7DDB5D64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8954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首年 5-6 人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三年 8-10 人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ARM 板卡/红外相机/测试环境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模型库与实测校准数据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2759F-94F2-44F5-B625-767DEDE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62125"/>
            <a:ext cx="2238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B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7BF80-9F7B-42D4-A00E-A0EE0AA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621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4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E331D-0E7C-4824-8ECD-917CFBE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38325"/>
            <a:ext cx="1971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产出预期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27FB5-B379-4BE3-A161-D307F2B6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76475"/>
            <a:ext cx="18954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1 年内部节支与原型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2-3 年试点销售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第 4-5 年平台复制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形成软著/专利/数据资产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0CE87-7483-4D95-BE1F-C6355F0B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2238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8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AED06-6069-4636-85C4-964E3AB1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DF9F6-B58A-4E7D-B012-A0AAAAD6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38325"/>
            <a:ext cx="1971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化抓手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940DD-F60E-492B-ADC2-067F1D9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18954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场景自动生成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材质/温度参数反演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红外合成数据集</a:t>
            </a:r>
          </a:p>
          <a:p xmlns:a="http://schemas.openxmlformats.org/drawingml/2006/main">
            <a:pPr algn="ctr">
              <a:def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测试用例与报告自动生成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E942A-912D-4270-AE20-B7568F4C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638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B98"/>
          </a:solidFill>
          <a:ln xmlns:a="http://schemas.openxmlformats.org/drawingml/2006/main" w="9525">
            <a:solidFill>
              <a:srgbClr val="124B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49CE7-579F-4927-BA82-33BC381E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595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经营逻辑：产品授权 + 行业解决方案 + 模型库/维护服务；第 3 年开始追求可复制收入。</a:t>
            </a:r>
          </a:p>
        </p:txBody>
      </p:sp>
    </p:spTree>
    <p:extLst>
      <p:ext uri="{BB962C8B-B14F-4D97-AF65-F5344CB8AC3E}">
        <p14:creationId xmlns:p14="http://schemas.microsoft.com/office/powerpoint/2010/main" val="11045079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e6c7fa1f446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E075D-D5A0-4485-81EA-A41AD70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609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DB8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FD27D-3347-46BC-894F-9C0D736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4B98"/>
                </a:solidFill>
                <a:latin typeface="微软雅黑"/>
                <a:ea typeface="微软雅黑"/>
                <a:cs typeface="微软雅黑"/>
              </a:rPr>
              <a:t>建议立项口径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18F49-5FA2-4F5E-B19B-2C4E7530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国产化三维红外成像仿真产品平台</a:t>
            </a:r>
          </a:p>
          <a:p xmlns:a="http://schemas.openxmlformats.org/drawingml/2006/main">
            <a:pPr algn="ctr">
              <a:def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9285C"/>
                </a:solidFill>
                <a:latin typeface="微软雅黑"/>
                <a:ea typeface="微软雅黑"/>
                <a:cs typeface="微软雅黑"/>
              </a:rPr>
              <a:t>以军工、低空经济、商业航天解决方案包为首批商业化方向</a:t>
            </a:r>
          </a:p>
        </p:txBody>
      </p:sp>
    </p:spTree>
    <p:extLst>
      <p:ext uri="{BB962C8B-B14F-4D97-AF65-F5344CB8AC3E}">
        <p14:creationId xmlns:p14="http://schemas.microsoft.com/office/powerpoint/2010/main" val="968770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2026-06-07T06:54:59.6570000Z</dcterms:created>
  <dcterms:modified xsi:type="dcterms:W3CDTF">2026-06-07T06:54:59.6570000Z</dcterms:modified>
</coreProperties>
</file>